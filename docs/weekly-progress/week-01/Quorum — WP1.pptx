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DM Sans"/>
      <p:regular r:id="rId20"/>
      <p:bold r:id="rId21"/>
      <p:italic r:id="rId22"/>
      <p:boldItalic r:id="rId23"/>
    </p:embeddedFont>
    <p:embeddedFont>
      <p:font typeface="JetBrains Mono"/>
      <p:regular r:id="rId24"/>
      <p:bold r:id="rId25"/>
      <p:italic r:id="rId26"/>
      <p:boldItalic r:id="rId27"/>
    </p:embeddedFont>
    <p:embeddedFont>
      <p:font typeface="Space Grotesk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A74D149-DED4-4248-BEB8-9E00B8124A09}">
  <a:tblStyle styleId="{8A74D149-DED4-4248-BEB8-9E00B8124A0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-regular.fntdata"/><Relationship Id="rId22" Type="http://schemas.openxmlformats.org/officeDocument/2006/relationships/font" Target="fonts/DMSans-italic.fntdata"/><Relationship Id="rId21" Type="http://schemas.openxmlformats.org/officeDocument/2006/relationships/font" Target="fonts/DMSans-bold.fntdata"/><Relationship Id="rId24" Type="http://schemas.openxmlformats.org/officeDocument/2006/relationships/font" Target="fonts/JetBrainsMono-regular.fntdata"/><Relationship Id="rId23" Type="http://schemas.openxmlformats.org/officeDocument/2006/relationships/font" Target="fonts/DMSa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JetBrainsMono-italic.fntdata"/><Relationship Id="rId25" Type="http://schemas.openxmlformats.org/officeDocument/2006/relationships/font" Target="fonts/JetBrainsMono-bold.fntdata"/><Relationship Id="rId28" Type="http://schemas.openxmlformats.org/officeDocument/2006/relationships/font" Target="fonts/SpaceGrotesk-regular.fntdata"/><Relationship Id="rId27" Type="http://schemas.openxmlformats.org/officeDocument/2006/relationships/font" Target="fonts/JetBrainsMon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SpaceGrotesk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9.png"/><Relationship Id="rId5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609600" y="6286500"/>
            <a:ext cx="609600" cy="381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6727325" y="2214550"/>
            <a:ext cx="4855200" cy="3719700"/>
          </a:xfrm>
          <a:prstGeom prst="roundRect">
            <a:avLst>
              <a:gd fmla="val 4109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609600" y="533400"/>
            <a:ext cx="46257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2DD4B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QUORUM LABS · WIA2006 · GROUP OCC </a:t>
            </a:r>
            <a:r>
              <a:rPr b="1" lang="en-US" sz="1125">
                <a:solidFill>
                  <a:srgbClr val="2DD4B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896225" y="533400"/>
            <a:ext cx="42957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UNIVERSITI MALAYA · FSKTM · SEM 1 2026/2027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609600" y="2371725"/>
            <a:ext cx="7075661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QUORUM LABS PRESENTS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609600" y="2686050"/>
            <a:ext cx="7429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Quor</a:t>
            </a:r>
            <a:r>
              <a:rPr b="1" lang="en-US" sz="54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UM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609600" y="3676650"/>
            <a:ext cx="7429444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DD4BF"/>
                </a:solidFill>
                <a:latin typeface="Space Grotesk"/>
                <a:ea typeface="Space Grotesk"/>
                <a:cs typeface="Space Grotesk"/>
                <a:sym typeface="Space Grotesk"/>
              </a:rPr>
              <a:t>"Your group, verified."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609600" y="4286250"/>
            <a:ext cx="56197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A verified team-formation and peer-reputation platform for university students.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913050" y="2353012"/>
            <a:ext cx="5160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Project &amp; Team Roster </a:t>
            </a:r>
            <a:r>
              <a:rPr b="1" lang="en-US" sz="150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(OCC 10)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913050" y="2753062"/>
            <a:ext cx="5160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Lecturer:</a:t>
            </a:r>
            <a:r>
              <a:rPr b="0" i="0" lang="en-US" sz="1350" u="none" cap="none" strike="noStrike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 DR MUHAMAD NUR FIRDAUS BIN SAHRAN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6913050" y="3076912"/>
            <a:ext cx="516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Leader</a:t>
            </a:r>
            <a:r>
              <a:rPr b="1" i="0" lang="en-US" sz="13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0" i="0" sz="1350" u="none" cap="none" strike="noStrike">
              <a:solidFill>
                <a:srgbClr val="CBD5E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MUHAMMAD HAQIM BIN MOHD NAZRY — 24001753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6913050" y="3700312"/>
            <a:ext cx="516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System Analyst</a:t>
            </a:r>
            <a:r>
              <a:rPr b="1" i="0" lang="en-US" sz="13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0" i="0" sz="1350" u="none" cap="none" strike="noStrike">
              <a:solidFill>
                <a:srgbClr val="CBD5E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ERSHAD FALAH BIN HALID </a:t>
            </a:r>
            <a:r>
              <a:rPr b="0" i="0" lang="en-US" sz="13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—</a:t>
            </a:r>
            <a:r>
              <a:rPr b="0" i="0" lang="en-US" sz="13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35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24001519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6913050" y="4228612"/>
            <a:ext cx="516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Network Engineer</a:t>
            </a:r>
            <a:r>
              <a:rPr b="1" i="0" lang="en-US" sz="13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endParaRPr b="1" i="0" sz="1350" u="none" cap="none" strike="noStrike">
              <a:solidFill>
                <a:srgbClr val="CBD5E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MUHAMMAD RAIF RAHIMI BIN MOHD ROSLI </a:t>
            </a:r>
            <a:r>
              <a:rPr b="0" i="0" lang="en-US" sz="13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— </a:t>
            </a:r>
            <a:r>
              <a:rPr lang="en-US" sz="135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24002046</a:t>
            </a:r>
            <a:endParaRPr sz="1350">
              <a:solidFill>
                <a:srgbClr val="CBD5E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6913050" y="4756903"/>
            <a:ext cx="516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Programmer</a:t>
            </a:r>
            <a:r>
              <a:rPr b="1" i="0" lang="en-US" sz="13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endParaRPr sz="1350">
              <a:solidFill>
                <a:srgbClr val="CBD5E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MUHAMMAD 'AASIM BIN MOHD PADZLI </a:t>
            </a:r>
            <a:r>
              <a:rPr b="0" i="0" lang="en-US" sz="13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— </a:t>
            </a:r>
            <a:r>
              <a:rPr lang="en-US" sz="135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24001741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6913050" y="5380312"/>
            <a:ext cx="516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UI/UX Designer</a:t>
            </a:r>
            <a:r>
              <a:rPr b="1" i="0" lang="en-US" sz="13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0" i="0" sz="1350" u="none" cap="none" strike="noStrike">
              <a:solidFill>
                <a:srgbClr val="CBD5E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AQIEF AHMAD BIN AHMAD FIRDAUS </a:t>
            </a:r>
            <a:r>
              <a:rPr b="0" i="0" lang="en-US" sz="13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—24001628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4"/>
          <p:cNvSpPr/>
          <p:nvPr/>
        </p:nvSpPr>
        <p:spPr>
          <a:xfrm>
            <a:off x="609600" y="1871662"/>
            <a:ext cx="5314950" cy="4067175"/>
          </a:xfrm>
          <a:prstGeom prst="roundRect">
            <a:avLst>
              <a:gd fmla="val 281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6267450" y="1871662"/>
            <a:ext cx="5314950" cy="4067175"/>
          </a:xfrm>
          <a:prstGeom prst="roundRect">
            <a:avLst>
              <a:gd fmla="val 281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5" name="Google Shape;10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6300" y="2138362"/>
            <a:ext cx="4781550" cy="2476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34150" y="2138362"/>
            <a:ext cx="4781550" cy="2476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6300" y="2138362"/>
            <a:ext cx="4781550" cy="2476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34150" y="2138362"/>
            <a:ext cx="4781550" cy="2476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609600" y="457200"/>
            <a:ext cx="1158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E3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QUORUM LABS · WIA2006 · GROUP OCC 10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Group Formation Problem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876300" y="4805362"/>
            <a:ext cx="6275784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1. Lone Rangers Get Locked Out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876300" y="5195887"/>
            <a:ext cx="4876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Capable students with small networks cannot find teammates.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6534150" y="4805362"/>
            <a:ext cx="56578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2. Free Riders Go Unrecorded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6534150" y="5195887"/>
            <a:ext cx="4876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No system captures who actually completed project work.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5"/>
          <p:cNvSpPr/>
          <p:nvPr/>
        </p:nvSpPr>
        <p:spPr>
          <a:xfrm>
            <a:off x="609600" y="4619625"/>
            <a:ext cx="10972800" cy="952500"/>
          </a:xfrm>
          <a:prstGeom prst="roundRect">
            <a:avLst>
              <a:gd fmla="val 12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609600" y="2347912"/>
            <a:ext cx="3244899" cy="1781175"/>
          </a:xfrm>
          <a:prstGeom prst="roundRect">
            <a:avLst>
              <a:gd fmla="val 641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4473624" y="2200275"/>
            <a:ext cx="3244899" cy="2076450"/>
          </a:xfrm>
          <a:prstGeom prst="roundRect">
            <a:avLst>
              <a:gd fmla="val 550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8337649" y="2347912"/>
            <a:ext cx="3244899" cy="1781175"/>
          </a:xfrm>
          <a:prstGeom prst="roundRect">
            <a:avLst>
              <a:gd fmla="val 641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3" name="Google Shape;12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4999" y="3105150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09024" y="3105150"/>
            <a:ext cx="2381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609600" y="457200"/>
            <a:ext cx="1158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E3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QUORUM LABS · WIA2006 · GROUP OCC </a:t>
            </a:r>
            <a:r>
              <a:rPr b="1" lang="en-US" sz="1050">
                <a:solidFill>
                  <a:srgbClr val="1E3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Why the Problem Persists: Information Asymmetry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914400" y="4848225"/>
            <a:ext cx="104584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Existing Tools Fail:</a:t>
            </a:r>
            <a:r>
              <a:rPr b="0" i="0" lang="en-US" sz="150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 WhatsApp is ephemeral · Google Forms has no reputation · LinkedIn is professional not academic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838200" y="2652712"/>
            <a:ext cx="348462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D9770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PHASE 01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838200" y="2938462"/>
            <a:ext cx="365885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Before Project: Unknown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838200" y="3348037"/>
            <a:ext cx="2882949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Student contribution is invisible before teams form.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4702224" y="2505075"/>
            <a:ext cx="348462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D9770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PHASE 02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4702224" y="2790825"/>
            <a:ext cx="3027097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During Project: Unrecorded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4702224" y="3495675"/>
            <a:ext cx="2882949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Students default to familiar friends over capable peers.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8566249" y="2652712"/>
            <a:ext cx="3484624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D9770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PHASE 03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8566249" y="2938462"/>
            <a:ext cx="36257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After Project: Forgotten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8566249" y="3348037"/>
            <a:ext cx="2882949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Actual coursework effort disappears after semester end.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6"/>
          <p:cNvSpPr/>
          <p:nvPr/>
        </p:nvSpPr>
        <p:spPr>
          <a:xfrm>
            <a:off x="609600" y="2647950"/>
            <a:ext cx="3454449" cy="2514600"/>
          </a:xfrm>
          <a:prstGeom prst="roundRect">
            <a:avLst>
              <a:gd fmla="val 454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4368849" y="2647950"/>
            <a:ext cx="3454449" cy="2514600"/>
          </a:xfrm>
          <a:prstGeom prst="roundRect">
            <a:avLst>
              <a:gd fmla="val 454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8128099" y="2647950"/>
            <a:ext cx="3454449" cy="2514600"/>
          </a:xfrm>
          <a:prstGeom prst="roundRect">
            <a:avLst>
              <a:gd fmla="val 454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4" name="Google Shape;14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6300" y="29908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35549" y="29908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94799" y="2990850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/>
        </p:nvSpPr>
        <p:spPr>
          <a:xfrm>
            <a:off x="609600" y="457200"/>
            <a:ext cx="1158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E3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QUORUM LABS · WIA2006 · GROUP OCC </a:t>
            </a:r>
            <a:r>
              <a:rPr b="1" lang="en-US" sz="1050">
                <a:solidFill>
                  <a:srgbClr val="1E3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Solution: Three Pillars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876300" y="3600450"/>
            <a:ext cx="383387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1. FIND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876300" y="4076700"/>
            <a:ext cx="3016299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Skill-forward profiles reveal teammates beyond existing social networks.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4635549" y="3600450"/>
            <a:ext cx="383387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2. VERIFY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4635549" y="4076700"/>
            <a:ext cx="3016299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Registered teams require all-member confirmation to unlock ratings.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8394799" y="3600450"/>
            <a:ext cx="3797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3. RATE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8394799" y="4076700"/>
            <a:ext cx="3016299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Post-project double-blind ratings build portable Collaboration Scores.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7"/>
          <p:cNvSpPr/>
          <p:nvPr/>
        </p:nvSpPr>
        <p:spPr>
          <a:xfrm>
            <a:off x="609600" y="4486275"/>
            <a:ext cx="10972800" cy="781050"/>
          </a:xfrm>
          <a:prstGeom prst="roundRect">
            <a:avLst>
              <a:gd fmla="val 14634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609600" y="2505075"/>
            <a:ext cx="2414587" cy="1638300"/>
          </a:xfrm>
          <a:prstGeom prst="roundRect">
            <a:avLst>
              <a:gd fmla="val 697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3462337" y="2505075"/>
            <a:ext cx="2414587" cy="1638300"/>
          </a:xfrm>
          <a:prstGeom prst="roundRect">
            <a:avLst>
              <a:gd fmla="val 697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6315075" y="2505075"/>
            <a:ext cx="2414587" cy="1638300"/>
          </a:xfrm>
          <a:prstGeom prst="roundRect">
            <a:avLst>
              <a:gd fmla="val 697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/>
          <p:nvPr/>
        </p:nvSpPr>
        <p:spPr>
          <a:xfrm>
            <a:off x="9167812" y="2505075"/>
            <a:ext cx="2414587" cy="1638300"/>
          </a:xfrm>
          <a:prstGeom prst="roundRect">
            <a:avLst>
              <a:gd fmla="val 6976" name="adj"/>
            </a:avLst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4" name="Google Shape;16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6587" y="3219450"/>
            <a:ext cx="1333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29325" y="3219450"/>
            <a:ext cx="1333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82062" y="3219450"/>
            <a:ext cx="1333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7"/>
          <p:cNvSpPr txBox="1"/>
          <p:nvPr/>
        </p:nvSpPr>
        <p:spPr>
          <a:xfrm>
            <a:off x="609600" y="457200"/>
            <a:ext cx="1158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E3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QUORUM LABS · WIA2006 · GROUP OCC </a:t>
            </a:r>
            <a:r>
              <a:rPr b="1" lang="en-US" sz="1050">
                <a:solidFill>
                  <a:srgbClr val="1E3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How "Verified" Works: The Quorum Check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-190500" y="4714875"/>
            <a:ext cx="12573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2DD4BF"/>
                </a:solidFill>
                <a:latin typeface="Space Grotesk"/>
                <a:ea typeface="Space Grotesk"/>
                <a:cs typeface="Space Grotesk"/>
                <a:sym typeface="Space Grotesk"/>
              </a:rPr>
              <a:t>"No quorum, no credit."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800100" y="2771775"/>
            <a:ext cx="254198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3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STEP V1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800100" y="3067050"/>
            <a:ext cx="2669083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Register Team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800100" y="3419475"/>
            <a:ext cx="21288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Creator enters course code plus semester.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3652837" y="2771775"/>
            <a:ext cx="254198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3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STEP V2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3652837" y="3067050"/>
            <a:ext cx="2669083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Member Confirm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3652837" y="3419475"/>
            <a:ext cx="21288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Every invitee confirms via UM-verified account.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6505575" y="2771775"/>
            <a:ext cx="254198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3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STEP V3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6505575" y="3067050"/>
            <a:ext cx="2669083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Course Bound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6505575" y="3419475"/>
            <a:ext cx="21288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All confirmed members bind team to course.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9358312" y="2771775"/>
            <a:ext cx="254198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CFB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STEP V4 · BADGE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9358312" y="3067050"/>
            <a:ext cx="2669083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VERIFIED Status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9358312" y="3419475"/>
            <a:ext cx="21288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0FDFA"/>
                </a:solidFill>
                <a:latin typeface="DM Sans"/>
                <a:ea typeface="DM Sans"/>
                <a:cs typeface="DM Sans"/>
                <a:sym typeface="DM Sans"/>
              </a:rPr>
              <a:t>Peer rating unlocks at project completion.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8"/>
          <p:cNvSpPr/>
          <p:nvPr/>
        </p:nvSpPr>
        <p:spPr>
          <a:xfrm>
            <a:off x="609600" y="2257425"/>
            <a:ext cx="6384280" cy="3295650"/>
          </a:xfrm>
          <a:prstGeom prst="roundRect">
            <a:avLst>
              <a:gd fmla="val 346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8"/>
          <p:cNvSpPr/>
          <p:nvPr/>
        </p:nvSpPr>
        <p:spPr>
          <a:xfrm>
            <a:off x="7336780" y="2471737"/>
            <a:ext cx="4245619" cy="2867025"/>
          </a:xfrm>
          <a:prstGeom prst="roundRect">
            <a:avLst>
              <a:gd fmla="val 3986" name="adj"/>
            </a:avLst>
          </a:prstGeom>
          <a:solidFill>
            <a:srgbClr val="1E3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8"/>
          <p:cNvSpPr txBox="1"/>
          <p:nvPr/>
        </p:nvSpPr>
        <p:spPr>
          <a:xfrm>
            <a:off x="609600" y="457200"/>
            <a:ext cx="1158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E3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QUORUM LABS · WIA2006 · GROUP OCC </a:t>
            </a:r>
            <a:r>
              <a:rPr b="1" lang="en-US" sz="1050">
                <a:solidFill>
                  <a:srgbClr val="1E3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How Rating Works: Rules Preventing Gaming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914400" y="2562225"/>
            <a:ext cx="7579267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Integrity Safeguards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7641580" y="2776537"/>
            <a:ext cx="4550419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Five Rating Dimensions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1076325" y="3019425"/>
            <a:ext cx="666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1143000" y="3048000"/>
            <a:ext cx="564133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Verified Members Only:</a:t>
            </a:r>
            <a:r>
              <a:rPr b="0" i="0" lang="en-US" sz="1425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 Unverified groups cannot submit peer ratings.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1076325" y="3629025"/>
            <a:ext cx="666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1143000" y="3657600"/>
            <a:ext cx="69326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Post-Project Window:</a:t>
            </a:r>
            <a:r>
              <a:rPr b="0" i="0" lang="en-US" sz="1425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 Ratings open only after project closure.</a:t>
            </a:r>
            <a:endParaRPr/>
          </a:p>
        </p:txBody>
      </p:sp>
      <p:sp>
        <p:nvSpPr>
          <p:cNvPr id="196" name="Google Shape;196;p18"/>
          <p:cNvSpPr txBox="1"/>
          <p:nvPr/>
        </p:nvSpPr>
        <p:spPr>
          <a:xfrm>
            <a:off x="1076325" y="4000500"/>
            <a:ext cx="666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0D9488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97" name="Google Shape;197;p18"/>
          <p:cNvSpPr txBox="1"/>
          <p:nvPr/>
        </p:nvSpPr>
        <p:spPr>
          <a:xfrm>
            <a:off x="1143000" y="4029075"/>
            <a:ext cx="69326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D9488"/>
                </a:solidFill>
                <a:latin typeface="DM Sans"/>
                <a:ea typeface="DM Sans"/>
                <a:cs typeface="DM Sans"/>
                <a:sym typeface="DM Sans"/>
              </a:rPr>
              <a:t>Double-Blind Lock:</a:t>
            </a:r>
            <a:r>
              <a:rPr b="0" i="0" lang="en-US" sz="1425" u="none" cap="none" strike="noStrike">
                <a:solidFill>
                  <a:srgbClr val="0D9488"/>
                </a:solidFill>
                <a:latin typeface="DM Sans"/>
                <a:ea typeface="DM Sans"/>
                <a:cs typeface="DM Sans"/>
                <a:sym typeface="DM Sans"/>
              </a:rPr>
              <a:t> Scores stay hidden until you submit yours.</a:t>
            </a:r>
            <a:endParaRPr/>
          </a:p>
        </p:txBody>
      </p:sp>
      <p:sp>
        <p:nvSpPr>
          <p:cNvPr id="198" name="Google Shape;198;p18"/>
          <p:cNvSpPr txBox="1"/>
          <p:nvPr/>
        </p:nvSpPr>
        <p:spPr>
          <a:xfrm>
            <a:off x="1076325" y="4371975"/>
            <a:ext cx="666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E3A8A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99" name="Google Shape;199;p18"/>
          <p:cNvSpPr txBox="1"/>
          <p:nvPr/>
        </p:nvSpPr>
        <p:spPr>
          <a:xfrm>
            <a:off x="1143000" y="4400550"/>
            <a:ext cx="69326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E3A8A"/>
                </a:solidFill>
                <a:latin typeface="DM Sans"/>
                <a:ea typeface="DM Sans"/>
                <a:cs typeface="DM Sans"/>
                <a:sym typeface="DM Sans"/>
              </a:rPr>
              <a:t>Rater Weighting:</a:t>
            </a:r>
            <a:r>
              <a:rPr b="0" i="0" lang="en-US" sz="1425" u="none" cap="none" strike="noStrike">
                <a:solidFill>
                  <a:srgbClr val="1E3A8A"/>
                </a:solidFill>
                <a:latin typeface="DM Sans"/>
                <a:ea typeface="DM Sans"/>
                <a:cs typeface="DM Sans"/>
                <a:sym typeface="DM Sans"/>
              </a:rPr>
              <a:t> Low rater score reduces outgoing rating weight.</a:t>
            </a:r>
            <a:endParaRPr/>
          </a:p>
        </p:txBody>
      </p:sp>
      <p:sp>
        <p:nvSpPr>
          <p:cNvPr id="200" name="Google Shape;200;p18"/>
          <p:cNvSpPr txBox="1"/>
          <p:nvPr/>
        </p:nvSpPr>
        <p:spPr>
          <a:xfrm>
            <a:off x="1076325" y="4743450"/>
            <a:ext cx="666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01" name="Google Shape;201;p18"/>
          <p:cNvSpPr txBox="1"/>
          <p:nvPr/>
        </p:nvSpPr>
        <p:spPr>
          <a:xfrm>
            <a:off x="1143000" y="4772025"/>
            <a:ext cx="564133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Dispute Safeguard:</a:t>
            </a:r>
            <a:r>
              <a:rPr b="0" i="0" lang="en-US" sz="1425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 One rating per project; disputed ratings paused.</a:t>
            </a:r>
            <a:endParaRPr/>
          </a:p>
        </p:txBody>
      </p:sp>
      <p:sp>
        <p:nvSpPr>
          <p:cNvPr id="202" name="Google Shape;202;p18"/>
          <p:cNvSpPr txBox="1"/>
          <p:nvPr/>
        </p:nvSpPr>
        <p:spPr>
          <a:xfrm>
            <a:off x="7641580" y="3262312"/>
            <a:ext cx="4545024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01 · Contribution:</a:t>
            </a:r>
            <a:r>
              <a:rPr b="0" i="0" lang="en-US" sz="150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 Share of deliverables</a:t>
            </a:r>
            <a:endParaRPr/>
          </a:p>
        </p:txBody>
      </p:sp>
      <p:sp>
        <p:nvSpPr>
          <p:cNvPr id="203" name="Google Shape;203;p18"/>
          <p:cNvSpPr txBox="1"/>
          <p:nvPr/>
        </p:nvSpPr>
        <p:spPr>
          <a:xfrm>
            <a:off x="7641580" y="3643312"/>
            <a:ext cx="4545024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02 · Reliability:</a:t>
            </a:r>
            <a:r>
              <a:rPr b="0" i="0" lang="en-US" sz="150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 Deadline adherence</a:t>
            </a:r>
            <a:endParaRPr/>
          </a:p>
        </p:txBody>
      </p:sp>
      <p:sp>
        <p:nvSpPr>
          <p:cNvPr id="204" name="Google Shape;204;p18"/>
          <p:cNvSpPr txBox="1"/>
          <p:nvPr/>
        </p:nvSpPr>
        <p:spPr>
          <a:xfrm>
            <a:off x="7641580" y="4024312"/>
            <a:ext cx="4545024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03 · Communication:</a:t>
            </a:r>
            <a:r>
              <a:rPr b="0" i="0" lang="en-US" sz="150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 Responsiveness</a:t>
            </a:r>
            <a:endParaRPr/>
          </a:p>
        </p:txBody>
      </p:sp>
      <p:sp>
        <p:nvSpPr>
          <p:cNvPr id="205" name="Google Shape;205;p18"/>
          <p:cNvSpPr txBox="1"/>
          <p:nvPr/>
        </p:nvSpPr>
        <p:spPr>
          <a:xfrm>
            <a:off x="7641580" y="4405312"/>
            <a:ext cx="4545024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04 · Quality:</a:t>
            </a:r>
            <a:r>
              <a:rPr b="0" i="0" lang="en-US" sz="150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 Standard of work</a:t>
            </a:r>
            <a:endParaRPr/>
          </a:p>
        </p:txBody>
      </p:sp>
      <p:sp>
        <p:nvSpPr>
          <p:cNvPr id="206" name="Google Shape;206;p18"/>
          <p:cNvSpPr txBox="1"/>
          <p:nvPr/>
        </p:nvSpPr>
        <p:spPr>
          <a:xfrm>
            <a:off x="7641580" y="4786312"/>
            <a:ext cx="4545024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05 · Teamwork:</a:t>
            </a:r>
            <a:r>
              <a:rPr b="0" i="0" lang="en-US" sz="150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 Peer cooperation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9"/>
          <p:cNvSpPr/>
          <p:nvPr/>
        </p:nvSpPr>
        <p:spPr>
          <a:xfrm>
            <a:off x="609600" y="4629150"/>
            <a:ext cx="10972800" cy="714375"/>
          </a:xfrm>
          <a:prstGeom prst="roundRect">
            <a:avLst>
              <a:gd fmla="val 16000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9"/>
          <p:cNvSpPr/>
          <p:nvPr/>
        </p:nvSpPr>
        <p:spPr>
          <a:xfrm>
            <a:off x="609600" y="2733675"/>
            <a:ext cx="3479750" cy="1666875"/>
          </a:xfrm>
          <a:prstGeom prst="roundRect">
            <a:avLst>
              <a:gd fmla="val 685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9"/>
          <p:cNvSpPr/>
          <p:nvPr/>
        </p:nvSpPr>
        <p:spPr>
          <a:xfrm>
            <a:off x="4356050" y="2581275"/>
            <a:ext cx="3479750" cy="1819275"/>
          </a:xfrm>
          <a:prstGeom prst="roundRect">
            <a:avLst>
              <a:gd fmla="val 6282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9"/>
          <p:cNvSpPr/>
          <p:nvPr/>
        </p:nvSpPr>
        <p:spPr>
          <a:xfrm>
            <a:off x="8102500" y="2428875"/>
            <a:ext cx="3479750" cy="1971675"/>
          </a:xfrm>
          <a:prstGeom prst="roundRect">
            <a:avLst>
              <a:gd fmla="val 5797" name="adj"/>
            </a:avLst>
          </a:prstGeom>
          <a:solidFill>
            <a:srgbClr val="1E3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9"/>
          <p:cNvSpPr txBox="1"/>
          <p:nvPr/>
        </p:nvSpPr>
        <p:spPr>
          <a:xfrm>
            <a:off x="609600" y="457200"/>
            <a:ext cx="1158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E3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QUORUM LABS · WIA2006 · GROUP OCC </a:t>
            </a:r>
            <a:r>
              <a:rPr b="1" lang="en-US" sz="1050">
                <a:solidFill>
                  <a:srgbClr val="1E3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</a:t>
            </a:r>
            <a:endParaRPr/>
          </a:p>
        </p:txBody>
      </p:sp>
      <p:sp>
        <p:nvSpPr>
          <p:cNvPr id="216" name="Google Shape;216;p19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Solving the Cold-Start Problem</a:t>
            </a:r>
            <a:endParaRPr/>
          </a:p>
        </p:txBody>
      </p:sp>
      <p:sp>
        <p:nvSpPr>
          <p:cNvPr id="217" name="Google Shape;217;p19"/>
          <p:cNvSpPr txBox="1"/>
          <p:nvPr/>
        </p:nvSpPr>
        <p:spPr>
          <a:xfrm>
            <a:off x="-190500" y="4838700"/>
            <a:ext cx="125730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DD4BF"/>
                </a:solidFill>
                <a:latin typeface="Space Grotesk"/>
                <a:ea typeface="Space Grotesk"/>
                <a:cs typeface="Space Grotesk"/>
                <a:sym typeface="Space Grotesk"/>
              </a:rPr>
              <a:t>"Being new should not be a penalty."</a:t>
            </a:r>
            <a:endParaRPr/>
          </a:p>
        </p:txBody>
      </p:sp>
      <p:sp>
        <p:nvSpPr>
          <p:cNvPr id="218" name="Google Shape;218;p19"/>
          <p:cNvSpPr txBox="1"/>
          <p:nvPr/>
        </p:nvSpPr>
        <p:spPr>
          <a:xfrm>
            <a:off x="876300" y="3000375"/>
            <a:ext cx="368293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3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STEP 01 · ENTRY</a:t>
            </a:r>
            <a:endParaRPr/>
          </a:p>
        </p:txBody>
      </p:sp>
      <p:sp>
        <p:nvSpPr>
          <p:cNvPr id="219" name="Google Shape;219;p19"/>
          <p:cNvSpPr txBox="1"/>
          <p:nvPr/>
        </p:nvSpPr>
        <p:spPr>
          <a:xfrm>
            <a:off x="876300" y="3276600"/>
            <a:ext cx="3867084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25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Newcomer Cohort Matching</a:t>
            </a:r>
            <a:endParaRPr/>
          </a:p>
        </p:txBody>
      </p:sp>
      <p:sp>
        <p:nvSpPr>
          <p:cNvPr id="220" name="Google Shape;220;p19"/>
          <p:cNvSpPr txBox="1"/>
          <p:nvPr/>
        </p:nvSpPr>
        <p:spPr>
          <a:xfrm>
            <a:off x="876300" y="3657600"/>
            <a:ext cx="30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Zero-project students match together first.</a:t>
            </a:r>
            <a:endParaRPr/>
          </a:p>
        </p:txBody>
      </p:sp>
      <p:sp>
        <p:nvSpPr>
          <p:cNvPr id="221" name="Google Shape;221;p19"/>
          <p:cNvSpPr txBox="1"/>
          <p:nvPr/>
        </p:nvSpPr>
        <p:spPr>
          <a:xfrm>
            <a:off x="4622750" y="2924175"/>
            <a:ext cx="368293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STEP 02 · EVIDENCE</a:t>
            </a:r>
            <a:endParaRPr/>
          </a:p>
        </p:txBody>
      </p:sp>
      <p:sp>
        <p:nvSpPr>
          <p:cNvPr id="222" name="Google Shape;222;p19"/>
          <p:cNvSpPr txBox="1"/>
          <p:nvPr/>
        </p:nvSpPr>
        <p:spPr>
          <a:xfrm>
            <a:off x="4622750" y="3200400"/>
            <a:ext cx="3867084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25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Optional Skill Proof</a:t>
            </a:r>
            <a:endParaRPr/>
          </a:p>
        </p:txBody>
      </p:sp>
      <p:sp>
        <p:nvSpPr>
          <p:cNvPr id="223" name="Google Shape;223;p19"/>
          <p:cNvSpPr txBox="1"/>
          <p:nvPr/>
        </p:nvSpPr>
        <p:spPr>
          <a:xfrm>
            <a:off x="4622750" y="3581400"/>
            <a:ext cx="30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Profiles link GitHub Behance or writing samples.</a:t>
            </a:r>
            <a:endParaRPr/>
          </a:p>
        </p:txBody>
      </p:sp>
      <p:sp>
        <p:nvSpPr>
          <p:cNvPr id="224" name="Google Shape;224;p19"/>
          <p:cNvSpPr txBox="1"/>
          <p:nvPr/>
        </p:nvSpPr>
        <p:spPr>
          <a:xfrm>
            <a:off x="8369200" y="2847975"/>
            <a:ext cx="368293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DD4B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STEP 03 · CREDIBILITY</a:t>
            </a:r>
            <a:endParaRPr/>
          </a:p>
        </p:txBody>
      </p:sp>
      <p:sp>
        <p:nvSpPr>
          <p:cNvPr id="225" name="Google Shape;225;p19"/>
          <p:cNvSpPr txBox="1"/>
          <p:nvPr/>
        </p:nvSpPr>
        <p:spPr>
          <a:xfrm>
            <a:off x="8369200" y="3124200"/>
            <a:ext cx="382279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25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First-Team Unlock</a:t>
            </a:r>
            <a:endParaRPr/>
          </a:p>
        </p:txBody>
      </p:sp>
      <p:sp>
        <p:nvSpPr>
          <p:cNvPr id="226" name="Google Shape;226;p19"/>
          <p:cNvSpPr txBox="1"/>
          <p:nvPr/>
        </p:nvSpPr>
        <p:spPr>
          <a:xfrm>
            <a:off x="8369200" y="3505200"/>
            <a:ext cx="30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One completed Verified project builds instant score.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0"/>
          <p:cNvSpPr/>
          <p:nvPr/>
        </p:nvSpPr>
        <p:spPr>
          <a:xfrm>
            <a:off x="609600" y="2071687"/>
            <a:ext cx="10972800" cy="3667125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2" name="Google Shape;232;p20"/>
          <p:cNvGraphicFramePr/>
          <p:nvPr/>
        </p:nvGraphicFramePr>
        <p:xfrm>
          <a:off x="609600" y="20716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{8A74D149-DED4-4248-BEB8-9E00B8124A09}</a:tableStyleId>
              </a:tblPr>
              <a:tblGrid>
                <a:gridCol w="1807225"/>
                <a:gridCol w="2839050"/>
                <a:gridCol w="3314850"/>
                <a:gridCol w="3011675"/>
              </a:tblGrid>
              <a:tr h="733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Platform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Record Persistence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Reputation Signal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Verification Layer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0F172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WhatsApp Chat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Ephemeral semester chats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 peer score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Unverified group links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0F172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Google Forms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One-off static sheet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Captures preferences only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 quorum confirmation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0F172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LinkedIn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Permanent career resume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Employment endorsements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7556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Not coursework bound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D94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Quorum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F172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Survives across semesters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F172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Coursework Collaboration Score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D948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Non-fakeable Verified teams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</a:tr>
            </a:tbl>
          </a:graphicData>
        </a:graphic>
      </p:graphicFrame>
      <p:sp>
        <p:nvSpPr>
          <p:cNvPr id="233" name="Google Shape;233;p20"/>
          <p:cNvSpPr txBox="1"/>
          <p:nvPr/>
        </p:nvSpPr>
        <p:spPr>
          <a:xfrm>
            <a:off x="609600" y="457200"/>
            <a:ext cx="1158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E3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QUORUM LABS · WIA2006 · GROUP OCC </a:t>
            </a:r>
            <a:r>
              <a:rPr b="1" lang="en-US" sz="1050">
                <a:solidFill>
                  <a:srgbClr val="1E3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</a:t>
            </a:r>
            <a:endParaRPr/>
          </a:p>
        </p:txBody>
      </p:sp>
      <p:sp>
        <p:nvSpPr>
          <p:cNvPr id="234" name="Google Shape;234;p20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What Makes Quorum Different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1"/>
          <p:cNvSpPr/>
          <p:nvPr/>
        </p:nvSpPr>
        <p:spPr>
          <a:xfrm>
            <a:off x="609600" y="2166937"/>
            <a:ext cx="5372100" cy="1504950"/>
          </a:xfrm>
          <a:prstGeom prst="roundRect">
            <a:avLst>
              <a:gd fmla="val 759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1"/>
          <p:cNvSpPr/>
          <p:nvPr/>
        </p:nvSpPr>
        <p:spPr>
          <a:xfrm>
            <a:off x="6210300" y="2166937"/>
            <a:ext cx="5372100" cy="1504950"/>
          </a:xfrm>
          <a:prstGeom prst="roundRect">
            <a:avLst>
              <a:gd fmla="val 759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1"/>
          <p:cNvSpPr/>
          <p:nvPr/>
        </p:nvSpPr>
        <p:spPr>
          <a:xfrm>
            <a:off x="609600" y="3900487"/>
            <a:ext cx="5372100" cy="1743075"/>
          </a:xfrm>
          <a:prstGeom prst="roundRect">
            <a:avLst>
              <a:gd fmla="val 655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1"/>
          <p:cNvSpPr/>
          <p:nvPr/>
        </p:nvSpPr>
        <p:spPr>
          <a:xfrm>
            <a:off x="6210300" y="3900487"/>
            <a:ext cx="5372100" cy="1743075"/>
          </a:xfrm>
          <a:prstGeom prst="roundRect">
            <a:avLst>
              <a:gd fmla="val 655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1"/>
          <p:cNvSpPr txBox="1"/>
          <p:nvPr/>
        </p:nvSpPr>
        <p:spPr>
          <a:xfrm>
            <a:off x="609600" y="457200"/>
            <a:ext cx="1158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E3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QUORUM LABS · WIA2006 · GROUP OCC </a:t>
            </a:r>
            <a:r>
              <a:rPr b="1" lang="en-US" sz="1050">
                <a:solidFill>
                  <a:srgbClr val="1E3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</a:t>
            </a:r>
            <a:endParaRPr/>
          </a:p>
        </p:txBody>
      </p:sp>
      <p:sp>
        <p:nvSpPr>
          <p:cNvPr id="244" name="Google Shape;244;p21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Justification: Who Benefits</a:t>
            </a:r>
            <a:endParaRPr/>
          </a:p>
        </p:txBody>
      </p:sp>
      <p:sp>
        <p:nvSpPr>
          <p:cNvPr id="245" name="Google Shape;245;p21"/>
          <p:cNvSpPr txBox="1"/>
          <p:nvPr/>
        </p:nvSpPr>
        <p:spPr>
          <a:xfrm>
            <a:off x="914400" y="2471737"/>
            <a:ext cx="59531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1E3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BENEFICIARY 01</a:t>
            </a:r>
            <a:endParaRPr/>
          </a:p>
        </p:txBody>
      </p:sp>
      <p:sp>
        <p:nvSpPr>
          <p:cNvPr id="246" name="Google Shape;246;p21"/>
          <p:cNvSpPr txBox="1"/>
          <p:nvPr/>
        </p:nvSpPr>
        <p:spPr>
          <a:xfrm>
            <a:off x="914400" y="2738437"/>
            <a:ext cx="6250781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Lone Rangers</a:t>
            </a:r>
            <a:endParaRPr/>
          </a:p>
        </p:txBody>
      </p:sp>
      <p:sp>
        <p:nvSpPr>
          <p:cNvPr id="247" name="Google Shape;247;p21"/>
          <p:cNvSpPr txBox="1"/>
          <p:nvPr/>
        </p:nvSpPr>
        <p:spPr>
          <a:xfrm>
            <a:off x="914400" y="3128962"/>
            <a:ext cx="59531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Compete on verified track record over popularity.</a:t>
            </a:r>
            <a:endParaRPr/>
          </a:p>
        </p:txBody>
      </p:sp>
      <p:sp>
        <p:nvSpPr>
          <p:cNvPr id="248" name="Google Shape;248;p21"/>
          <p:cNvSpPr txBox="1"/>
          <p:nvPr/>
        </p:nvSpPr>
        <p:spPr>
          <a:xfrm>
            <a:off x="6515100" y="2471737"/>
            <a:ext cx="5676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D948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BENEFICIARY 02</a:t>
            </a:r>
            <a:endParaRPr/>
          </a:p>
        </p:txBody>
      </p:sp>
      <p:sp>
        <p:nvSpPr>
          <p:cNvPr id="249" name="Google Shape;249;p21"/>
          <p:cNvSpPr txBox="1"/>
          <p:nvPr/>
        </p:nvSpPr>
        <p:spPr>
          <a:xfrm>
            <a:off x="6515100" y="2738437"/>
            <a:ext cx="56769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Diligent Students</a:t>
            </a:r>
            <a:endParaRPr/>
          </a:p>
        </p:txBody>
      </p:sp>
      <p:sp>
        <p:nvSpPr>
          <p:cNvPr id="250" name="Google Shape;250;p21"/>
          <p:cNvSpPr txBox="1"/>
          <p:nvPr/>
        </p:nvSpPr>
        <p:spPr>
          <a:xfrm>
            <a:off x="6515100" y="3128962"/>
            <a:ext cx="56769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Project contribution becomes visible across semesters.</a:t>
            </a:r>
            <a:endParaRPr/>
          </a:p>
        </p:txBody>
      </p:sp>
      <p:sp>
        <p:nvSpPr>
          <p:cNvPr id="251" name="Google Shape;251;p21"/>
          <p:cNvSpPr txBox="1"/>
          <p:nvPr/>
        </p:nvSpPr>
        <p:spPr>
          <a:xfrm>
            <a:off x="914400" y="4205287"/>
            <a:ext cx="59531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BENEFICIARY 03</a:t>
            </a:r>
            <a:endParaRPr/>
          </a:p>
        </p:txBody>
      </p:sp>
      <p:sp>
        <p:nvSpPr>
          <p:cNvPr id="252" name="Google Shape;252;p21"/>
          <p:cNvSpPr txBox="1"/>
          <p:nvPr/>
        </p:nvSpPr>
        <p:spPr>
          <a:xfrm>
            <a:off x="914400" y="4471987"/>
            <a:ext cx="6250781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Lecturers</a:t>
            </a:r>
            <a:endParaRPr/>
          </a:p>
        </p:txBody>
      </p:sp>
      <p:sp>
        <p:nvSpPr>
          <p:cNvPr id="253" name="Google Shape;253;p21"/>
          <p:cNvSpPr txBox="1"/>
          <p:nvPr/>
        </p:nvSpPr>
        <p:spPr>
          <a:xfrm>
            <a:off x="914400" y="4862512"/>
            <a:ext cx="48577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Fewer group-formation complaints during course delivery.</a:t>
            </a:r>
            <a:endParaRPr/>
          </a:p>
        </p:txBody>
      </p:sp>
      <p:sp>
        <p:nvSpPr>
          <p:cNvPr id="254" name="Google Shape;254;p21"/>
          <p:cNvSpPr txBox="1"/>
          <p:nvPr/>
        </p:nvSpPr>
        <p:spPr>
          <a:xfrm>
            <a:off x="6515100" y="4205287"/>
            <a:ext cx="5676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D9770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BENEFICIARY 04</a:t>
            </a:r>
            <a:endParaRPr/>
          </a:p>
        </p:txBody>
      </p:sp>
      <p:sp>
        <p:nvSpPr>
          <p:cNvPr id="255" name="Google Shape;255;p21"/>
          <p:cNvSpPr txBox="1"/>
          <p:nvPr/>
        </p:nvSpPr>
        <p:spPr>
          <a:xfrm>
            <a:off x="6515100" y="4471987"/>
            <a:ext cx="56769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Faculty</a:t>
            </a:r>
            <a:endParaRPr/>
          </a:p>
        </p:txBody>
      </p:sp>
      <p:sp>
        <p:nvSpPr>
          <p:cNvPr id="256" name="Google Shape;256;p21"/>
          <p:cNvSpPr txBox="1"/>
          <p:nvPr/>
        </p:nvSpPr>
        <p:spPr>
          <a:xfrm>
            <a:off x="6515100" y="4862512"/>
            <a:ext cx="48577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Measurable teamwork evidence aligned to graduate attributes.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2"/>
          <p:cNvSpPr/>
          <p:nvPr/>
        </p:nvSpPr>
        <p:spPr>
          <a:xfrm>
            <a:off x="609600" y="3024187"/>
            <a:ext cx="2600325" cy="1762125"/>
          </a:xfrm>
          <a:prstGeom prst="roundRect">
            <a:avLst>
              <a:gd fmla="val 648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2"/>
          <p:cNvSpPr/>
          <p:nvPr/>
        </p:nvSpPr>
        <p:spPr>
          <a:xfrm>
            <a:off x="3400425" y="3024187"/>
            <a:ext cx="2600325" cy="1762125"/>
          </a:xfrm>
          <a:prstGeom prst="roundRect">
            <a:avLst>
              <a:gd fmla="val 648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2"/>
          <p:cNvSpPr/>
          <p:nvPr/>
        </p:nvSpPr>
        <p:spPr>
          <a:xfrm>
            <a:off x="6191250" y="2909887"/>
            <a:ext cx="2600325" cy="1990725"/>
          </a:xfrm>
          <a:prstGeom prst="roundRect">
            <a:avLst>
              <a:gd fmla="val 574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2"/>
          <p:cNvSpPr/>
          <p:nvPr/>
        </p:nvSpPr>
        <p:spPr>
          <a:xfrm>
            <a:off x="8982075" y="2909887"/>
            <a:ext cx="2600325" cy="1990725"/>
          </a:xfrm>
          <a:prstGeom prst="roundRect">
            <a:avLst>
              <a:gd fmla="val 5741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2"/>
          <p:cNvSpPr txBox="1"/>
          <p:nvPr/>
        </p:nvSpPr>
        <p:spPr>
          <a:xfrm>
            <a:off x="609600" y="457200"/>
            <a:ext cx="1158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E3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QUORUM LABS · WIA2006 · GROUP OCC </a:t>
            </a:r>
            <a:r>
              <a:rPr b="1" lang="en-US" sz="1050">
                <a:solidFill>
                  <a:srgbClr val="1E3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</a:t>
            </a:r>
            <a:endParaRPr/>
          </a:p>
        </p:txBody>
      </p:sp>
      <p:sp>
        <p:nvSpPr>
          <p:cNvPr id="266" name="Google Shape;266;p22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Project Objectives (SMART Milestones)</a:t>
            </a:r>
            <a:endParaRPr/>
          </a:p>
        </p:txBody>
      </p:sp>
      <p:sp>
        <p:nvSpPr>
          <p:cNvPr id="267" name="Google Shape;267;p22"/>
          <p:cNvSpPr txBox="1"/>
          <p:nvPr/>
        </p:nvSpPr>
        <p:spPr>
          <a:xfrm>
            <a:off x="819150" y="3328987"/>
            <a:ext cx="2726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3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 · </a:t>
            </a:r>
            <a:endParaRPr/>
          </a:p>
        </p:txBody>
      </p:sp>
      <p:sp>
        <p:nvSpPr>
          <p:cNvPr id="268" name="Google Shape;268;p22"/>
          <p:cNvSpPr txBox="1"/>
          <p:nvPr/>
        </p:nvSpPr>
        <p:spPr>
          <a:xfrm>
            <a:off x="819150" y="3643312"/>
            <a:ext cx="286285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Elicit Requirements</a:t>
            </a:r>
            <a:endParaRPr/>
          </a:p>
        </p:txBody>
      </p:sp>
      <p:sp>
        <p:nvSpPr>
          <p:cNvPr id="269" name="Google Shape;269;p22"/>
          <p:cNvSpPr txBox="1"/>
          <p:nvPr/>
        </p:nvSpPr>
        <p:spPr>
          <a:xfrm>
            <a:off x="819150" y="4024312"/>
            <a:ext cx="22764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Interview 15+ students 3 staff 1 coordinator.</a:t>
            </a:r>
            <a:endParaRPr/>
          </a:p>
        </p:txBody>
      </p:sp>
      <p:sp>
        <p:nvSpPr>
          <p:cNvPr id="270" name="Google Shape;270;p22"/>
          <p:cNvSpPr txBox="1"/>
          <p:nvPr/>
        </p:nvSpPr>
        <p:spPr>
          <a:xfrm>
            <a:off x="3609975" y="3328987"/>
            <a:ext cx="2726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 </a:t>
            </a:r>
            <a:endParaRPr/>
          </a:p>
        </p:txBody>
      </p:sp>
      <p:sp>
        <p:nvSpPr>
          <p:cNvPr id="271" name="Google Shape;271;p22"/>
          <p:cNvSpPr txBox="1"/>
          <p:nvPr/>
        </p:nvSpPr>
        <p:spPr>
          <a:xfrm>
            <a:off x="3609975" y="3643312"/>
            <a:ext cx="286285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Model Systems</a:t>
            </a:r>
            <a:endParaRPr/>
          </a:p>
        </p:txBody>
      </p:sp>
      <p:sp>
        <p:nvSpPr>
          <p:cNvPr id="272" name="Google Shape;272;p22"/>
          <p:cNvSpPr txBox="1"/>
          <p:nvPr/>
        </p:nvSpPr>
        <p:spPr>
          <a:xfrm>
            <a:off x="3609975" y="4024312"/>
            <a:ext cx="22764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Document as-is to-be via FDD DFD ERD UML.</a:t>
            </a:r>
            <a:endParaRPr/>
          </a:p>
        </p:txBody>
      </p:sp>
      <p:sp>
        <p:nvSpPr>
          <p:cNvPr id="273" name="Google Shape;273;p22"/>
          <p:cNvSpPr txBox="1"/>
          <p:nvPr/>
        </p:nvSpPr>
        <p:spPr>
          <a:xfrm>
            <a:off x="6400800" y="3214687"/>
            <a:ext cx="2726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D948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 · </a:t>
            </a:r>
            <a:endParaRPr/>
          </a:p>
        </p:txBody>
      </p:sp>
      <p:sp>
        <p:nvSpPr>
          <p:cNvPr id="274" name="Google Shape;274;p22"/>
          <p:cNvSpPr txBox="1"/>
          <p:nvPr/>
        </p:nvSpPr>
        <p:spPr>
          <a:xfrm>
            <a:off x="6400800" y="3529012"/>
            <a:ext cx="286285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Develop Prototype</a:t>
            </a:r>
            <a:endParaRPr/>
          </a:p>
        </p:txBody>
      </p:sp>
      <p:sp>
        <p:nvSpPr>
          <p:cNvPr id="275" name="Google Shape;275;p22"/>
          <p:cNvSpPr txBox="1"/>
          <p:nvPr/>
        </p:nvSpPr>
        <p:spPr>
          <a:xfrm>
            <a:off x="6400800" y="3910012"/>
            <a:ext cx="22764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Build functional web prototype across 5 core flows.</a:t>
            </a:r>
            <a:endParaRPr/>
          </a:p>
        </p:txBody>
      </p:sp>
      <p:sp>
        <p:nvSpPr>
          <p:cNvPr id="276" name="Google Shape;276;p22"/>
          <p:cNvSpPr txBox="1"/>
          <p:nvPr/>
        </p:nvSpPr>
        <p:spPr>
          <a:xfrm>
            <a:off x="9191625" y="3214687"/>
            <a:ext cx="2726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DD4B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 · </a:t>
            </a:r>
            <a:endParaRPr/>
          </a:p>
        </p:txBody>
      </p:sp>
      <p:sp>
        <p:nvSpPr>
          <p:cNvPr id="277" name="Google Shape;277;p22"/>
          <p:cNvSpPr txBox="1"/>
          <p:nvPr/>
        </p:nvSpPr>
        <p:spPr>
          <a:xfrm>
            <a:off x="9191625" y="3529012"/>
            <a:ext cx="286285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Evaluate Usability</a:t>
            </a:r>
            <a:endParaRPr/>
          </a:p>
        </p:txBody>
      </p:sp>
      <p:sp>
        <p:nvSpPr>
          <p:cNvPr id="278" name="Google Shape;278;p22"/>
          <p:cNvSpPr txBox="1"/>
          <p:nvPr/>
        </p:nvSpPr>
        <p:spPr>
          <a:xfrm>
            <a:off x="9191625" y="3910012"/>
            <a:ext cx="22764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Test 8+ participants targeting 80% unaided completion.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3"/>
          <p:cNvSpPr/>
          <p:nvPr/>
        </p:nvSpPr>
        <p:spPr>
          <a:xfrm>
            <a:off x="609600" y="2057400"/>
            <a:ext cx="5314950" cy="3695700"/>
          </a:xfrm>
          <a:prstGeom prst="roundRect">
            <a:avLst>
              <a:gd fmla="val 3092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3"/>
          <p:cNvSpPr/>
          <p:nvPr/>
        </p:nvSpPr>
        <p:spPr>
          <a:xfrm>
            <a:off x="6267450" y="2057400"/>
            <a:ext cx="5314950" cy="3695700"/>
          </a:xfrm>
          <a:prstGeom prst="roundRect">
            <a:avLst>
              <a:gd fmla="val 3092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85" name="Google Shape;28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239077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6" name="Google Shape;28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72250" y="239077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3"/>
          <p:cNvSpPr txBox="1"/>
          <p:nvPr/>
        </p:nvSpPr>
        <p:spPr>
          <a:xfrm>
            <a:off x="609600" y="457200"/>
            <a:ext cx="1158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E3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QUORUM LABS · WIA2006 · GROUP OCC </a:t>
            </a:r>
            <a:r>
              <a:rPr b="1" lang="en-US" sz="1050">
                <a:solidFill>
                  <a:srgbClr val="1E3A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</a:t>
            </a:r>
            <a:endParaRPr/>
          </a:p>
        </p:txBody>
      </p:sp>
      <p:sp>
        <p:nvSpPr>
          <p:cNvPr id="288" name="Google Shape;288;p23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Project Scope</a:t>
            </a:r>
            <a:endParaRPr/>
          </a:p>
        </p:txBody>
      </p:sp>
      <p:sp>
        <p:nvSpPr>
          <p:cNvPr id="289" name="Google Shape;289;p23"/>
          <p:cNvSpPr txBox="1"/>
          <p:nvPr/>
        </p:nvSpPr>
        <p:spPr>
          <a:xfrm>
            <a:off x="914400" y="2362200"/>
            <a:ext cx="6175771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238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D9488"/>
                </a:solidFill>
                <a:latin typeface="Space Grotesk"/>
                <a:ea typeface="Space Grotesk"/>
                <a:cs typeface="Space Grotesk"/>
                <a:sym typeface="Space Grotesk"/>
              </a:rPr>
              <a:t>IN SCOPE</a:t>
            </a:r>
            <a:endParaRPr/>
          </a:p>
        </p:txBody>
      </p:sp>
      <p:sp>
        <p:nvSpPr>
          <p:cNvPr id="290" name="Google Shape;290;p23"/>
          <p:cNvSpPr txBox="1"/>
          <p:nvPr/>
        </p:nvSpPr>
        <p:spPr>
          <a:xfrm>
            <a:off x="6572250" y="2362200"/>
            <a:ext cx="56197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238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75569"/>
                </a:solidFill>
                <a:latin typeface="Space Grotesk"/>
                <a:ea typeface="Space Grotesk"/>
                <a:cs typeface="Space Grotesk"/>
                <a:sym typeface="Space Grotesk"/>
              </a:rPr>
              <a:t>OUT OF SCOPE (v1)</a:t>
            </a:r>
            <a:endParaRPr/>
          </a:p>
        </p:txBody>
      </p:sp>
      <p:sp>
        <p:nvSpPr>
          <p:cNvPr id="291" name="Google Shape;291;p23"/>
          <p:cNvSpPr txBox="1"/>
          <p:nvPr/>
        </p:nvSpPr>
        <p:spPr>
          <a:xfrm>
            <a:off x="1076325" y="2819400"/>
            <a:ext cx="666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92" name="Google Shape;292;p23"/>
          <p:cNvSpPr txBox="1"/>
          <p:nvPr/>
        </p:nvSpPr>
        <p:spPr>
          <a:xfrm>
            <a:off x="1143000" y="2847975"/>
            <a:ext cx="4572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Student Profiles:</a:t>
            </a:r>
            <a:r>
              <a:rPr b="0" i="0" lang="en-US" sz="1425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 Verified accounts with skill declarations.</a:t>
            </a:r>
            <a:endParaRPr/>
          </a:p>
        </p:txBody>
      </p:sp>
      <p:sp>
        <p:nvSpPr>
          <p:cNvPr id="293" name="Google Shape;293;p23"/>
          <p:cNvSpPr txBox="1"/>
          <p:nvPr/>
        </p:nvSpPr>
        <p:spPr>
          <a:xfrm>
            <a:off x="1076325" y="3409950"/>
            <a:ext cx="666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94" name="Google Shape;294;p23"/>
          <p:cNvSpPr txBox="1"/>
          <p:nvPr/>
        </p:nvSpPr>
        <p:spPr>
          <a:xfrm>
            <a:off x="1143000" y="3438525"/>
            <a:ext cx="4572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Team Verification:</a:t>
            </a:r>
            <a:r>
              <a:rPr b="0" i="0" lang="en-US" sz="1425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 Team creation invites all-member confirmation.</a:t>
            </a:r>
            <a:endParaRPr/>
          </a:p>
        </p:txBody>
      </p:sp>
      <p:sp>
        <p:nvSpPr>
          <p:cNvPr id="295" name="Google Shape;295;p23"/>
          <p:cNvSpPr txBox="1"/>
          <p:nvPr/>
        </p:nvSpPr>
        <p:spPr>
          <a:xfrm>
            <a:off x="1076325" y="4000500"/>
            <a:ext cx="666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96" name="Google Shape;296;p23"/>
          <p:cNvSpPr txBox="1"/>
          <p:nvPr/>
        </p:nvSpPr>
        <p:spPr>
          <a:xfrm>
            <a:off x="1143000" y="4029075"/>
            <a:ext cx="4572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Peer Rating:</a:t>
            </a:r>
            <a:r>
              <a:rPr b="0" i="0" lang="en-US" sz="1425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 Double-blind five-dimension rating engine.</a:t>
            </a:r>
            <a:endParaRPr/>
          </a:p>
        </p:txBody>
      </p:sp>
      <p:sp>
        <p:nvSpPr>
          <p:cNvPr id="297" name="Google Shape;297;p23"/>
          <p:cNvSpPr txBox="1"/>
          <p:nvPr/>
        </p:nvSpPr>
        <p:spPr>
          <a:xfrm>
            <a:off x="1076325" y="4591050"/>
            <a:ext cx="666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98" name="Google Shape;298;p23"/>
          <p:cNvSpPr txBox="1"/>
          <p:nvPr/>
        </p:nvSpPr>
        <p:spPr>
          <a:xfrm>
            <a:off x="1143000" y="4619625"/>
            <a:ext cx="4572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Discovery &amp; Score:</a:t>
            </a:r>
            <a:r>
              <a:rPr b="0" i="0" lang="en-US" sz="1425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 Collaboration Score display browse search filter.</a:t>
            </a:r>
            <a:endParaRPr/>
          </a:p>
        </p:txBody>
      </p:sp>
      <p:sp>
        <p:nvSpPr>
          <p:cNvPr id="299" name="Google Shape;299;p23"/>
          <p:cNvSpPr txBox="1"/>
          <p:nvPr/>
        </p:nvSpPr>
        <p:spPr>
          <a:xfrm>
            <a:off x="1076325" y="5181600"/>
            <a:ext cx="666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300" name="Google Shape;300;p23"/>
          <p:cNvSpPr txBox="1"/>
          <p:nvPr/>
        </p:nvSpPr>
        <p:spPr>
          <a:xfrm>
            <a:off x="1143000" y="5210175"/>
            <a:ext cx="559593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Administration:</a:t>
            </a:r>
            <a:r>
              <a:rPr b="0" i="0" lang="en-US" sz="1425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 Basic admin moderation dashboard.</a:t>
            </a:r>
            <a:endParaRPr/>
          </a:p>
        </p:txBody>
      </p:sp>
      <p:sp>
        <p:nvSpPr>
          <p:cNvPr id="301" name="Google Shape;301;p23"/>
          <p:cNvSpPr txBox="1"/>
          <p:nvPr/>
        </p:nvSpPr>
        <p:spPr>
          <a:xfrm>
            <a:off x="6734175" y="2819400"/>
            <a:ext cx="666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302" name="Google Shape;302;p23"/>
          <p:cNvSpPr txBox="1"/>
          <p:nvPr/>
        </p:nvSpPr>
        <p:spPr>
          <a:xfrm>
            <a:off x="6800850" y="2847975"/>
            <a:ext cx="4572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University Systems:</a:t>
            </a:r>
            <a:r>
              <a:rPr b="0" i="0" lang="en-US" sz="1425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Direct UM SIS or MAYA integration.</a:t>
            </a:r>
            <a:endParaRPr/>
          </a:p>
        </p:txBody>
      </p:sp>
      <p:sp>
        <p:nvSpPr>
          <p:cNvPr id="303" name="Google Shape;303;p23"/>
          <p:cNvSpPr txBox="1"/>
          <p:nvPr/>
        </p:nvSpPr>
        <p:spPr>
          <a:xfrm>
            <a:off x="6734175" y="3409950"/>
            <a:ext cx="666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304" name="Google Shape;304;p23"/>
          <p:cNvSpPr txBox="1"/>
          <p:nvPr/>
        </p:nvSpPr>
        <p:spPr>
          <a:xfrm>
            <a:off x="6800850" y="3438525"/>
            <a:ext cx="4572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Collaboration Suite:</a:t>
            </a:r>
            <a:r>
              <a:rPr b="0" i="0" lang="en-US" sz="1425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In-app chat or file version control.</a:t>
            </a:r>
            <a:endParaRPr/>
          </a:p>
        </p:txBody>
      </p:sp>
      <p:sp>
        <p:nvSpPr>
          <p:cNvPr id="305" name="Google Shape;305;p23"/>
          <p:cNvSpPr txBox="1"/>
          <p:nvPr/>
        </p:nvSpPr>
        <p:spPr>
          <a:xfrm>
            <a:off x="6734175" y="4000500"/>
            <a:ext cx="666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306" name="Google Shape;306;p23"/>
          <p:cNvSpPr txBox="1"/>
          <p:nvPr/>
        </p:nvSpPr>
        <p:spPr>
          <a:xfrm>
            <a:off x="6800850" y="4029075"/>
            <a:ext cx="4572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AI Matching:</a:t>
            </a:r>
            <a:r>
              <a:rPr b="0" i="0" lang="en-US" sz="1425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Automated AI pairing (rule-based filtering only).</a:t>
            </a:r>
            <a:endParaRPr/>
          </a:p>
        </p:txBody>
      </p:sp>
      <p:sp>
        <p:nvSpPr>
          <p:cNvPr id="307" name="Google Shape;307;p23"/>
          <p:cNvSpPr txBox="1"/>
          <p:nvPr/>
        </p:nvSpPr>
        <p:spPr>
          <a:xfrm>
            <a:off x="6734175" y="4591050"/>
            <a:ext cx="666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308" name="Google Shape;308;p23"/>
          <p:cNvSpPr txBox="1"/>
          <p:nvPr/>
        </p:nvSpPr>
        <p:spPr>
          <a:xfrm>
            <a:off x="6800850" y="4619625"/>
            <a:ext cx="4572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Native Mobile:</a:t>
            </a:r>
            <a:r>
              <a:rPr b="0" i="0" lang="en-US" sz="1425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Dedicated iOS or Android mobile apps.</a:t>
            </a:r>
            <a:endParaRPr/>
          </a:p>
        </p:txBody>
      </p:sp>
      <p:sp>
        <p:nvSpPr>
          <p:cNvPr id="309" name="Google Shape;309;p23"/>
          <p:cNvSpPr txBox="1"/>
          <p:nvPr/>
        </p:nvSpPr>
        <p:spPr>
          <a:xfrm>
            <a:off x="6734175" y="5181600"/>
            <a:ext cx="666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310" name="Google Shape;310;p23"/>
          <p:cNvSpPr txBox="1"/>
          <p:nvPr/>
        </p:nvSpPr>
        <p:spPr>
          <a:xfrm>
            <a:off x="6800850" y="5210175"/>
            <a:ext cx="53911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Campus Expansion:</a:t>
            </a:r>
            <a:r>
              <a:rPr b="0" i="0" lang="en-US" sz="1425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Multi-faculty rollout in version 1.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4"/>
          <p:cNvSpPr/>
          <p:nvPr/>
        </p:nvSpPr>
        <p:spPr>
          <a:xfrm>
            <a:off x="2476500" y="2571750"/>
            <a:ext cx="7239000" cy="2133600"/>
          </a:xfrm>
          <a:prstGeom prst="roundRect">
            <a:avLst>
              <a:gd fmla="val 5357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16" name="Google Shape;31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33700" y="2900362"/>
            <a:ext cx="1714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7" name="Google Shape;31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33700" y="3319462"/>
            <a:ext cx="1714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8" name="Google Shape;31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33700" y="3738562"/>
            <a:ext cx="1714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9" name="Google Shape;31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33700" y="4157662"/>
            <a:ext cx="1714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4"/>
          <p:cNvSpPr txBox="1"/>
          <p:nvPr/>
        </p:nvSpPr>
        <p:spPr>
          <a:xfrm>
            <a:off x="4113609" y="1390650"/>
            <a:ext cx="39648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2DD4B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QUORUM LABS · WIA2006 · GROUP OCC </a:t>
            </a:r>
            <a:r>
              <a:rPr b="1" lang="en-US" sz="1125">
                <a:solidFill>
                  <a:srgbClr val="2DD4B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</a:t>
            </a:r>
            <a:endParaRPr/>
          </a:p>
        </p:txBody>
      </p:sp>
      <p:sp>
        <p:nvSpPr>
          <p:cNvPr id="321" name="Google Shape;321;p24"/>
          <p:cNvSpPr txBox="1"/>
          <p:nvPr/>
        </p:nvSpPr>
        <p:spPr>
          <a:xfrm>
            <a:off x="3201888" y="1695450"/>
            <a:ext cx="5788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Next Steps</a:t>
            </a:r>
            <a:endParaRPr/>
          </a:p>
        </p:txBody>
      </p:sp>
      <p:sp>
        <p:nvSpPr>
          <p:cNvPr id="322" name="Google Shape;322;p24"/>
          <p:cNvSpPr txBox="1"/>
          <p:nvPr/>
        </p:nvSpPr>
        <p:spPr>
          <a:xfrm>
            <a:off x="2889349" y="5086350"/>
            <a:ext cx="6413301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DD4BF"/>
                </a:solidFill>
                <a:latin typeface="Space Grotesk"/>
                <a:ea typeface="Space Grotesk"/>
                <a:cs typeface="Space Grotesk"/>
                <a:sym typeface="Space Grotesk"/>
              </a:rPr>
              <a:t>"Quorum — your group, verified."</a:t>
            </a:r>
            <a:endParaRPr/>
          </a:p>
        </p:txBody>
      </p:sp>
      <p:sp>
        <p:nvSpPr>
          <p:cNvPr id="323" name="Google Shape;323;p24"/>
          <p:cNvSpPr txBox="1"/>
          <p:nvPr/>
        </p:nvSpPr>
        <p:spPr>
          <a:xfrm>
            <a:off x="2933700" y="2876550"/>
            <a:ext cx="7905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048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Step 1:</a:t>
            </a:r>
            <a:r>
              <a:rPr b="0" i="0" lang="en-US" sz="1575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 Conduct 5 student interviews this week.</a:t>
            </a:r>
            <a:endParaRPr/>
          </a:p>
        </p:txBody>
      </p:sp>
      <p:sp>
        <p:nvSpPr>
          <p:cNvPr id="324" name="Google Shape;324;p24"/>
          <p:cNvSpPr txBox="1"/>
          <p:nvPr/>
        </p:nvSpPr>
        <p:spPr>
          <a:xfrm>
            <a:off x="2933700" y="3295650"/>
            <a:ext cx="7905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048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Step 2:</a:t>
            </a:r>
            <a:r>
              <a:rPr b="0" i="0" lang="en-US" sz="1575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 Draft as-is Functional Decomposition Diagram.</a:t>
            </a:r>
            <a:endParaRPr/>
          </a:p>
        </p:txBody>
      </p:sp>
      <p:sp>
        <p:nvSpPr>
          <p:cNvPr id="325" name="Google Shape;325;p24"/>
          <p:cNvSpPr txBox="1"/>
          <p:nvPr/>
        </p:nvSpPr>
        <p:spPr>
          <a:xfrm>
            <a:off x="2933700" y="3714750"/>
            <a:ext cx="7905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048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Step 3:</a:t>
            </a:r>
            <a:r>
              <a:rPr b="0" i="0" lang="en-US" sz="1575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 Build wireframes for profile and rating screens.</a:t>
            </a:r>
            <a:endParaRPr/>
          </a:p>
        </p:txBody>
      </p:sp>
      <p:sp>
        <p:nvSpPr>
          <p:cNvPr id="326" name="Google Shape;326;p24"/>
          <p:cNvSpPr txBox="1"/>
          <p:nvPr/>
        </p:nvSpPr>
        <p:spPr>
          <a:xfrm>
            <a:off x="2933700" y="4133850"/>
            <a:ext cx="7905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048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Step 4:</a:t>
            </a:r>
            <a:r>
              <a:rPr b="0" i="0" lang="en-US" sz="1575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 Refine verification flow based on feedback.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5"/>
          <p:cNvSpPr/>
          <p:nvPr/>
        </p:nvSpPr>
        <p:spPr>
          <a:xfrm>
            <a:off x="571500" y="866775"/>
            <a:ext cx="11049000" cy="866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5"/>
          <p:cNvSpPr/>
          <p:nvPr/>
        </p:nvSpPr>
        <p:spPr>
          <a:xfrm>
            <a:off x="571500" y="17240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5"/>
          <p:cNvSpPr/>
          <p:nvPr/>
        </p:nvSpPr>
        <p:spPr>
          <a:xfrm>
            <a:off x="571500" y="17240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34" name="Google Shape;33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057275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5" name="Google Shape;33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240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25"/>
          <p:cNvSpPr txBox="1"/>
          <p:nvPr/>
        </p:nvSpPr>
        <p:spPr>
          <a:xfrm>
            <a:off x="571500" y="571500"/>
            <a:ext cx="2187773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Image Sources</a:t>
            </a:r>
            <a:endParaRPr/>
          </a:p>
        </p:txBody>
      </p:sp>
      <p:sp>
        <p:nvSpPr>
          <p:cNvPr id="337" name="Google Shape;337;p25"/>
          <p:cNvSpPr txBox="1"/>
          <p:nvPr/>
        </p:nvSpPr>
        <p:spPr>
          <a:xfrm>
            <a:off x="1666875" y="1009650"/>
            <a:ext cx="100488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https://media.istockphoto.com/id/2152479572/photo/student-engrossed-in-using-phone-at-library.jpg?s=612x612&amp;w=0&amp;k=20&amp;c=8AZjvifnFFFxD5w8GDKpcdYxUE9DxMWilDE4P00KiKI=</a:t>
            </a:r>
            <a:endParaRPr/>
          </a:p>
        </p:txBody>
      </p:sp>
      <p:sp>
        <p:nvSpPr>
          <p:cNvPr id="338" name="Google Shape;338;p25"/>
          <p:cNvSpPr txBox="1"/>
          <p:nvPr/>
        </p:nvSpPr>
        <p:spPr>
          <a:xfrm>
            <a:off x="1666875" y="1381125"/>
            <a:ext cx="259556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Source: www.istockphoto.com</a:t>
            </a:r>
            <a:endParaRPr/>
          </a:p>
        </p:txBody>
      </p:sp>
      <p:sp>
        <p:nvSpPr>
          <p:cNvPr id="339" name="Google Shape;339;p25"/>
          <p:cNvSpPr txBox="1"/>
          <p:nvPr/>
        </p:nvSpPr>
        <p:spPr>
          <a:xfrm>
            <a:off x="1666875" y="1876425"/>
            <a:ext cx="100488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https://media.istockphoto.com/id/1461630610/photo/group-of-happy-students-checking-results-on-laptop-while-sitting-on-college-campus-concept-of.jpg?s=1024x1024&amp;w=is&amp;k=20&amp;c=hM3MXDo7nbLLfxjpFrYBtp-nnIsnVEBU5pG2lvIIdkg=</a:t>
            </a:r>
            <a:endParaRPr/>
          </a:p>
        </p:txBody>
      </p:sp>
      <p:sp>
        <p:nvSpPr>
          <p:cNvPr id="340" name="Google Shape;340;p25"/>
          <p:cNvSpPr txBox="1"/>
          <p:nvPr/>
        </p:nvSpPr>
        <p:spPr>
          <a:xfrm>
            <a:off x="1666875" y="2247900"/>
            <a:ext cx="259556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Source: www.istockphoto.com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